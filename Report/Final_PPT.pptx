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0" r:id="rId1"/>
  </p:sldMasterIdLst>
  <p:sldIdLst>
    <p:sldId id="256" r:id="rId2"/>
    <p:sldId id="257" r:id="rId3"/>
    <p:sldId id="258" r:id="rId4"/>
    <p:sldId id="259" r:id="rId5"/>
    <p:sldId id="260" r:id="rId6"/>
    <p:sldId id="261" r:id="rId7"/>
    <p:sldId id="262" r:id="rId8"/>
    <p:sldId id="263" r:id="rId9"/>
    <p:sldId id="265" r:id="rId10"/>
    <p:sldId id="264"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15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1E8A1-6DA8-4496-BCE8-03ED561CC4E5}"/>
              </a:ext>
            </a:extLst>
          </p:cNvPr>
          <p:cNvSpPr>
            <a:spLocks noGrp="1"/>
          </p:cNvSpPr>
          <p:nvPr>
            <p:ph type="ctrTitle"/>
          </p:nvPr>
        </p:nvSpPr>
        <p:spPr>
          <a:xfrm>
            <a:off x="838200" y="365760"/>
            <a:ext cx="10515600" cy="2890202"/>
          </a:xfrm>
        </p:spPr>
        <p:txBody>
          <a:bodyPr anchor="b">
            <a:normAutofit/>
          </a:bodyPr>
          <a:lstStyle>
            <a:lvl1pPr algn="l">
              <a:defRPr sz="6600"/>
            </a:lvl1pPr>
          </a:lstStyle>
          <a:p>
            <a:r>
              <a:rPr lang="en-US" dirty="0"/>
              <a:t>Click to edit Master title style</a:t>
            </a:r>
          </a:p>
        </p:txBody>
      </p:sp>
      <p:sp>
        <p:nvSpPr>
          <p:cNvPr id="3" name="Subtitle 2">
            <a:extLst>
              <a:ext uri="{FF2B5EF4-FFF2-40B4-BE49-F238E27FC236}">
                <a16:creationId xmlns:a16="http://schemas.microsoft.com/office/drawing/2014/main" id="{3EB24CCC-3D44-4BB5-AA35-A21607EF69A4}"/>
              </a:ext>
            </a:extLst>
          </p:cNvPr>
          <p:cNvSpPr>
            <a:spLocks noGrp="1"/>
          </p:cNvSpPr>
          <p:nvPr>
            <p:ph type="subTitle" idx="1"/>
          </p:nvPr>
        </p:nvSpPr>
        <p:spPr>
          <a:xfrm>
            <a:off x="838200" y="3506150"/>
            <a:ext cx="10515600" cy="2483488"/>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301F80F6-1855-44E9-BA95-5E00A06E786D}"/>
              </a:ext>
            </a:extLst>
          </p:cNvPr>
          <p:cNvSpPr>
            <a:spLocks noGrp="1"/>
          </p:cNvSpPr>
          <p:nvPr>
            <p:ph type="dt" sz="half" idx="10"/>
          </p:nvPr>
        </p:nvSpPr>
        <p:spPr/>
        <p:txBody>
          <a:bodyPr/>
          <a:lstStyle/>
          <a:p>
            <a:fld id="{FD2766A6-3C10-4AB8-86A1-BB1F0CDA7EFE}" type="datetimeFigureOut">
              <a:rPr lang="en-US" smtClean="0"/>
              <a:t>4/17/2024</a:t>
            </a:fld>
            <a:endParaRPr lang="en-US"/>
          </a:p>
        </p:txBody>
      </p:sp>
      <p:sp>
        <p:nvSpPr>
          <p:cNvPr id="5" name="Footer Placeholder 4">
            <a:extLst>
              <a:ext uri="{FF2B5EF4-FFF2-40B4-BE49-F238E27FC236}">
                <a16:creationId xmlns:a16="http://schemas.microsoft.com/office/drawing/2014/main" id="{873D7FFD-570A-4968-B943-AF87BB679D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CE6A8-0665-4714-B241-6AFBA8C6F807}"/>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962315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2A8A8-ECDA-4018-ABB4-CC22892BE8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90AE7C-51AF-4F0E-B5A3-8C7E1026C27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5F28C09-A717-49AB-B60E-433BC469258F}"/>
              </a:ext>
            </a:extLst>
          </p:cNvPr>
          <p:cNvSpPr>
            <a:spLocks noGrp="1"/>
          </p:cNvSpPr>
          <p:nvPr>
            <p:ph type="dt" sz="half" idx="10"/>
          </p:nvPr>
        </p:nvSpPr>
        <p:spPr/>
        <p:txBody>
          <a:bodyPr/>
          <a:lstStyle/>
          <a:p>
            <a:fld id="{FD2766A6-3C10-4AB8-86A1-BB1F0CDA7EFE}" type="datetimeFigureOut">
              <a:rPr lang="en-US" smtClean="0"/>
              <a:t>4/17/2024</a:t>
            </a:fld>
            <a:endParaRPr lang="en-US"/>
          </a:p>
        </p:txBody>
      </p:sp>
      <p:sp>
        <p:nvSpPr>
          <p:cNvPr id="5" name="Footer Placeholder 4">
            <a:extLst>
              <a:ext uri="{FF2B5EF4-FFF2-40B4-BE49-F238E27FC236}">
                <a16:creationId xmlns:a16="http://schemas.microsoft.com/office/drawing/2014/main" id="{1D11A47A-6E5A-4754-8B43-9CE556160B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ACA1EB-7AC7-4F86-90C0-AA980D887225}"/>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1003575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95957-C46F-4F17-BC8C-6507E676E916}"/>
              </a:ext>
            </a:extLst>
          </p:cNvPr>
          <p:cNvSpPr>
            <a:spLocks noGrp="1"/>
          </p:cNvSpPr>
          <p:nvPr>
            <p:ph type="title"/>
          </p:nvPr>
        </p:nvSpPr>
        <p:spPr>
          <a:xfrm>
            <a:off x="831850" y="365760"/>
            <a:ext cx="10515600" cy="3827868"/>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98D9661B-6633-4C8B-8B9C-E514DF851D3E}"/>
              </a:ext>
            </a:extLst>
          </p:cNvPr>
          <p:cNvSpPr>
            <a:spLocks noGrp="1"/>
          </p:cNvSpPr>
          <p:nvPr>
            <p:ph type="body" idx="1"/>
          </p:nvPr>
        </p:nvSpPr>
        <p:spPr>
          <a:xfrm>
            <a:off x="831850" y="4443817"/>
            <a:ext cx="10515600" cy="1645834"/>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B6274BF-C1CD-4709-B0A0-E9407DBEA73C}"/>
              </a:ext>
            </a:extLst>
          </p:cNvPr>
          <p:cNvSpPr>
            <a:spLocks noGrp="1"/>
          </p:cNvSpPr>
          <p:nvPr>
            <p:ph type="dt" sz="half" idx="10"/>
          </p:nvPr>
        </p:nvSpPr>
        <p:spPr/>
        <p:txBody>
          <a:bodyPr/>
          <a:lstStyle/>
          <a:p>
            <a:fld id="{FD2766A6-3C10-4AB8-86A1-BB1F0CDA7EFE}" type="datetimeFigureOut">
              <a:rPr lang="en-US" smtClean="0"/>
              <a:t>4/17/2024</a:t>
            </a:fld>
            <a:endParaRPr lang="en-US"/>
          </a:p>
        </p:txBody>
      </p:sp>
      <p:sp>
        <p:nvSpPr>
          <p:cNvPr id="5" name="Footer Placeholder 4">
            <a:extLst>
              <a:ext uri="{FF2B5EF4-FFF2-40B4-BE49-F238E27FC236}">
                <a16:creationId xmlns:a16="http://schemas.microsoft.com/office/drawing/2014/main" id="{CC9ADB94-0A5B-4B56-B0B1-1FF5580A47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CA668A-35AE-4CDF-AC4C-2BEEA9EE80F8}"/>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2534985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7F1FD-0E96-4963-9F09-92861572BB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79E5F0-B650-4AFF-B90E-23B378684D66}"/>
              </a:ext>
            </a:extLst>
          </p:cNvPr>
          <p:cNvSpPr>
            <a:spLocks noGrp="1"/>
          </p:cNvSpPr>
          <p:nvPr>
            <p:ph sz="half" idx="1"/>
          </p:nvPr>
        </p:nvSpPr>
        <p:spPr>
          <a:xfrm>
            <a:off x="838200" y="1940876"/>
            <a:ext cx="5181600" cy="42360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2D1747B-302D-476E-8F4F-E4B114C6624E}"/>
              </a:ext>
            </a:extLst>
          </p:cNvPr>
          <p:cNvSpPr>
            <a:spLocks noGrp="1"/>
          </p:cNvSpPr>
          <p:nvPr>
            <p:ph sz="half" idx="2"/>
          </p:nvPr>
        </p:nvSpPr>
        <p:spPr>
          <a:xfrm>
            <a:off x="6172200" y="1940876"/>
            <a:ext cx="5181600" cy="4236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40577D-22F7-4958-BB3D-6C9265EA1964}"/>
              </a:ext>
            </a:extLst>
          </p:cNvPr>
          <p:cNvSpPr>
            <a:spLocks noGrp="1"/>
          </p:cNvSpPr>
          <p:nvPr>
            <p:ph type="dt" sz="half" idx="10"/>
          </p:nvPr>
        </p:nvSpPr>
        <p:spPr/>
        <p:txBody>
          <a:bodyPr/>
          <a:lstStyle/>
          <a:p>
            <a:fld id="{FD2766A6-3C10-4AB8-86A1-BB1F0CDA7EFE}" type="datetimeFigureOut">
              <a:rPr lang="en-US" smtClean="0"/>
              <a:t>4/17/2024</a:t>
            </a:fld>
            <a:endParaRPr lang="en-US"/>
          </a:p>
        </p:txBody>
      </p:sp>
      <p:sp>
        <p:nvSpPr>
          <p:cNvPr id="6" name="Footer Placeholder 5">
            <a:extLst>
              <a:ext uri="{FF2B5EF4-FFF2-40B4-BE49-F238E27FC236}">
                <a16:creationId xmlns:a16="http://schemas.microsoft.com/office/drawing/2014/main" id="{71EC5B46-A8FB-4683-9618-3F6E073839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7887BD-93E9-4181-9D7F-940C3E1730FF}"/>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1627048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63D79-FA27-4567-9032-AF722733E10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77C1BF-703F-4992-BB0C-EB1E579C7410}"/>
              </a:ext>
            </a:extLst>
          </p:cNvPr>
          <p:cNvSpPr>
            <a:spLocks noGrp="1"/>
          </p:cNvSpPr>
          <p:nvPr>
            <p:ph type="body" idx="1"/>
          </p:nvPr>
        </p:nvSpPr>
        <p:spPr>
          <a:xfrm>
            <a:off x="839788" y="1951823"/>
            <a:ext cx="5157787" cy="823912"/>
          </a:xfrm>
        </p:spPr>
        <p:txBody>
          <a:bodyPr anchor="b"/>
          <a:lstStyle>
            <a:lvl1pPr marL="0" indent="0">
              <a:buNone/>
              <a:defRPr lang="en-US" sz="2400" b="0" i="1" kern="120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2B2FCE1-6DC0-43B5-8016-89FD4AF5ABD2}"/>
              </a:ext>
            </a:extLst>
          </p:cNvPr>
          <p:cNvSpPr>
            <a:spLocks noGrp="1"/>
          </p:cNvSpPr>
          <p:nvPr>
            <p:ph sz="half" idx="2"/>
          </p:nvPr>
        </p:nvSpPr>
        <p:spPr>
          <a:xfrm>
            <a:off x="839788" y="2954741"/>
            <a:ext cx="5157787" cy="32349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62FED7A-67D0-43CC-889A-25F8849647F1}"/>
              </a:ext>
            </a:extLst>
          </p:cNvPr>
          <p:cNvSpPr>
            <a:spLocks noGrp="1"/>
          </p:cNvSpPr>
          <p:nvPr>
            <p:ph type="body" sz="quarter" idx="3"/>
          </p:nvPr>
        </p:nvSpPr>
        <p:spPr>
          <a:xfrm>
            <a:off x="6172200" y="1951823"/>
            <a:ext cx="5183188" cy="823912"/>
          </a:xfrm>
        </p:spPr>
        <p:txBody>
          <a:bodyPr anchor="b"/>
          <a:lstStyle>
            <a:lvl1pPr marL="0" indent="0">
              <a:buNone/>
              <a:defRPr lang="en-US" sz="2400" b="0" i="1" kern="120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731C176-48F2-44EC-B3A2-A144403D57FB}"/>
              </a:ext>
            </a:extLst>
          </p:cNvPr>
          <p:cNvSpPr>
            <a:spLocks noGrp="1"/>
          </p:cNvSpPr>
          <p:nvPr>
            <p:ph sz="quarter" idx="4"/>
          </p:nvPr>
        </p:nvSpPr>
        <p:spPr>
          <a:xfrm>
            <a:off x="6172200" y="2954741"/>
            <a:ext cx="5183188" cy="3234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9187B8-AC48-4FE7-8658-8A31E37311F6}"/>
              </a:ext>
            </a:extLst>
          </p:cNvPr>
          <p:cNvSpPr>
            <a:spLocks noGrp="1"/>
          </p:cNvSpPr>
          <p:nvPr>
            <p:ph type="dt" sz="half" idx="10"/>
          </p:nvPr>
        </p:nvSpPr>
        <p:spPr/>
        <p:txBody>
          <a:bodyPr/>
          <a:lstStyle/>
          <a:p>
            <a:fld id="{FD2766A6-3C10-4AB8-86A1-BB1F0CDA7EFE}" type="datetimeFigureOut">
              <a:rPr lang="en-US" smtClean="0"/>
              <a:t>4/17/2024</a:t>
            </a:fld>
            <a:endParaRPr lang="en-US"/>
          </a:p>
        </p:txBody>
      </p:sp>
      <p:sp>
        <p:nvSpPr>
          <p:cNvPr id="8" name="Footer Placeholder 7">
            <a:extLst>
              <a:ext uri="{FF2B5EF4-FFF2-40B4-BE49-F238E27FC236}">
                <a16:creationId xmlns:a16="http://schemas.microsoft.com/office/drawing/2014/main" id="{7CCAB465-E22E-45DC-89C9-406121BCED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F9D1CF-F964-4405-8677-5F9E2A028785}"/>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3521878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A3453-DD0F-41C0-8F4A-5DC343F5EB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4E6313-506F-4456-B3D9-D9655538F9FB}"/>
              </a:ext>
            </a:extLst>
          </p:cNvPr>
          <p:cNvSpPr>
            <a:spLocks noGrp="1"/>
          </p:cNvSpPr>
          <p:nvPr>
            <p:ph type="dt" sz="half" idx="10"/>
          </p:nvPr>
        </p:nvSpPr>
        <p:spPr/>
        <p:txBody>
          <a:bodyPr/>
          <a:lstStyle/>
          <a:p>
            <a:fld id="{FD2766A6-3C10-4AB8-86A1-BB1F0CDA7EFE}" type="datetimeFigureOut">
              <a:rPr lang="en-US" smtClean="0"/>
              <a:t>4/17/2024</a:t>
            </a:fld>
            <a:endParaRPr lang="en-US"/>
          </a:p>
        </p:txBody>
      </p:sp>
      <p:sp>
        <p:nvSpPr>
          <p:cNvPr id="4" name="Footer Placeholder 3">
            <a:extLst>
              <a:ext uri="{FF2B5EF4-FFF2-40B4-BE49-F238E27FC236}">
                <a16:creationId xmlns:a16="http://schemas.microsoft.com/office/drawing/2014/main" id="{E8F26068-7707-41EC-93EF-A24CAF8FFD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9C8A3C-8C01-4039-B47B-57D8497587A5}"/>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4274817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892633-8C77-419D-B24D-2B3D44DBA556}"/>
              </a:ext>
            </a:extLst>
          </p:cNvPr>
          <p:cNvSpPr>
            <a:spLocks noGrp="1"/>
          </p:cNvSpPr>
          <p:nvPr>
            <p:ph type="dt" sz="half" idx="10"/>
          </p:nvPr>
        </p:nvSpPr>
        <p:spPr/>
        <p:txBody>
          <a:bodyPr/>
          <a:lstStyle/>
          <a:p>
            <a:fld id="{FD2766A6-3C10-4AB8-86A1-BB1F0CDA7EFE}" type="datetimeFigureOut">
              <a:rPr lang="en-US" smtClean="0"/>
              <a:t>4/17/2024</a:t>
            </a:fld>
            <a:endParaRPr lang="en-US"/>
          </a:p>
        </p:txBody>
      </p:sp>
      <p:sp>
        <p:nvSpPr>
          <p:cNvPr id="3" name="Footer Placeholder 2">
            <a:extLst>
              <a:ext uri="{FF2B5EF4-FFF2-40B4-BE49-F238E27FC236}">
                <a16:creationId xmlns:a16="http://schemas.microsoft.com/office/drawing/2014/main" id="{FD149D59-0A88-4A14-A740-4CCD9B5264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A3DEF9-802F-444E-92D2-397862EEAB07}"/>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4205361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23C20-3881-4F15-94F7-9D7B9F9E357A}"/>
              </a:ext>
            </a:extLst>
          </p:cNvPr>
          <p:cNvSpPr>
            <a:spLocks noGrp="1"/>
          </p:cNvSpPr>
          <p:nvPr>
            <p:ph type="title"/>
          </p:nvPr>
        </p:nvSpPr>
        <p:spPr>
          <a:xfrm>
            <a:off x="839788" y="457200"/>
            <a:ext cx="4343400" cy="2971800"/>
          </a:xfrm>
        </p:spPr>
        <p:txBody>
          <a:bodyPr anchor="b">
            <a:noAutofit/>
          </a:bodyPr>
          <a:lstStyle>
            <a:lvl1pPr algn="l" defTabSz="914400" rtl="0" eaLnBrk="1" latinLnBrk="0" hangingPunct="1">
              <a:lnSpc>
                <a:spcPct val="100000"/>
              </a:lnSpc>
              <a:spcBef>
                <a:spcPct val="0"/>
              </a:spcBef>
              <a:buNone/>
              <a:defRPr lang="en-US" sz="5400" kern="1200" dirty="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a:lstStyle>
          <a:p>
            <a:r>
              <a:rPr lang="en-US" dirty="0"/>
              <a:t>Click to edit Master title style</a:t>
            </a:r>
          </a:p>
        </p:txBody>
      </p:sp>
      <p:sp>
        <p:nvSpPr>
          <p:cNvPr id="3" name="Content Placeholder 2">
            <a:extLst>
              <a:ext uri="{FF2B5EF4-FFF2-40B4-BE49-F238E27FC236}">
                <a16:creationId xmlns:a16="http://schemas.microsoft.com/office/drawing/2014/main" id="{B268F40F-6C2A-48EC-8F16-DA179A1DA375}"/>
              </a:ext>
            </a:extLst>
          </p:cNvPr>
          <p:cNvSpPr>
            <a:spLocks noGrp="1"/>
          </p:cNvSpPr>
          <p:nvPr>
            <p:ph idx="1"/>
          </p:nvPr>
        </p:nvSpPr>
        <p:spPr>
          <a:xfrm>
            <a:off x="5554638" y="457201"/>
            <a:ext cx="5800749" cy="5403850"/>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6736B7E-D33D-48C7-97AC-5C0D9874FE53}"/>
              </a:ext>
            </a:extLst>
          </p:cNvPr>
          <p:cNvSpPr>
            <a:spLocks noGrp="1"/>
          </p:cNvSpPr>
          <p:nvPr>
            <p:ph type="body" sz="half" idx="2"/>
          </p:nvPr>
        </p:nvSpPr>
        <p:spPr>
          <a:xfrm>
            <a:off x="839788" y="3657600"/>
            <a:ext cx="4343400" cy="2211387"/>
          </a:xfrm>
        </p:spPr>
        <p:txBody>
          <a:bodyPr>
            <a:normAutofit/>
          </a:bodyPr>
          <a:lstStyle>
            <a:lvl1pPr marL="0" indent="0">
              <a:buNone/>
              <a:defRPr lang="en-US" sz="2400" i="1" kern="1200" dirty="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Font typeface="Arial" panose="020B0604020202020204" pitchFamily="34" charset="0"/>
              <a:buNone/>
            </a:pPr>
            <a:r>
              <a:rPr lang="en-US" dirty="0"/>
              <a:t>Click to edit Master text styles</a:t>
            </a:r>
          </a:p>
        </p:txBody>
      </p:sp>
      <p:sp>
        <p:nvSpPr>
          <p:cNvPr id="5" name="Date Placeholder 4">
            <a:extLst>
              <a:ext uri="{FF2B5EF4-FFF2-40B4-BE49-F238E27FC236}">
                <a16:creationId xmlns:a16="http://schemas.microsoft.com/office/drawing/2014/main" id="{E9149BC5-FF58-463A-B4FA-F0F912F1234F}"/>
              </a:ext>
            </a:extLst>
          </p:cNvPr>
          <p:cNvSpPr>
            <a:spLocks noGrp="1"/>
          </p:cNvSpPr>
          <p:nvPr>
            <p:ph type="dt" sz="half" idx="10"/>
          </p:nvPr>
        </p:nvSpPr>
        <p:spPr/>
        <p:txBody>
          <a:bodyPr/>
          <a:lstStyle/>
          <a:p>
            <a:fld id="{FD2766A6-3C10-4AB8-86A1-BB1F0CDA7EFE}" type="datetimeFigureOut">
              <a:rPr lang="en-US" smtClean="0"/>
              <a:t>4/17/2024</a:t>
            </a:fld>
            <a:endParaRPr lang="en-US"/>
          </a:p>
        </p:txBody>
      </p:sp>
      <p:sp>
        <p:nvSpPr>
          <p:cNvPr id="6" name="Footer Placeholder 5">
            <a:extLst>
              <a:ext uri="{FF2B5EF4-FFF2-40B4-BE49-F238E27FC236}">
                <a16:creationId xmlns:a16="http://schemas.microsoft.com/office/drawing/2014/main" id="{947072D7-4A2A-407F-A084-6AE8DD0016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D4C41C-C368-475C-BDC1-DC5B29C78005}"/>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528897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F67B0-865B-44ED-9DFE-36C73B0C8B43}"/>
              </a:ext>
            </a:extLst>
          </p:cNvPr>
          <p:cNvSpPr>
            <a:spLocks noGrp="1"/>
          </p:cNvSpPr>
          <p:nvPr>
            <p:ph type="title"/>
          </p:nvPr>
        </p:nvSpPr>
        <p:spPr>
          <a:xfrm>
            <a:off x="839788" y="457200"/>
            <a:ext cx="4343400" cy="2971800"/>
          </a:xfrm>
        </p:spPr>
        <p:txBody>
          <a:bodyPr anchor="b">
            <a:noAutofit/>
          </a:bodyPr>
          <a:lstStyle>
            <a:lvl1pPr algn="l" defTabSz="914400" rtl="0" eaLnBrk="1" latinLnBrk="0" hangingPunct="1">
              <a:lnSpc>
                <a:spcPct val="100000"/>
              </a:lnSpc>
              <a:spcBef>
                <a:spcPct val="0"/>
              </a:spcBef>
              <a:buNone/>
              <a:defRPr lang="en-US" sz="5400" kern="1200" dirty="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a:lstStyle>
          <a:p>
            <a:r>
              <a:rPr lang="en-US" dirty="0"/>
              <a:t>Click to edit Master title style</a:t>
            </a:r>
          </a:p>
        </p:txBody>
      </p:sp>
      <p:sp>
        <p:nvSpPr>
          <p:cNvPr id="3" name="Picture Placeholder 2">
            <a:extLst>
              <a:ext uri="{FF2B5EF4-FFF2-40B4-BE49-F238E27FC236}">
                <a16:creationId xmlns:a16="http://schemas.microsoft.com/office/drawing/2014/main" id="{B73C5CF7-138A-437C-9E0A-FF4179970319}"/>
              </a:ext>
            </a:extLst>
          </p:cNvPr>
          <p:cNvSpPr>
            <a:spLocks noGrp="1"/>
          </p:cNvSpPr>
          <p:nvPr>
            <p:ph type="pic" idx="1"/>
          </p:nvPr>
        </p:nvSpPr>
        <p:spPr>
          <a:xfrm>
            <a:off x="5561462" y="457201"/>
            <a:ext cx="5793925"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5117822-7770-4117-96A2-8D2FF0A01044}"/>
              </a:ext>
            </a:extLst>
          </p:cNvPr>
          <p:cNvSpPr>
            <a:spLocks noGrp="1"/>
          </p:cNvSpPr>
          <p:nvPr>
            <p:ph type="body" sz="half" idx="2"/>
          </p:nvPr>
        </p:nvSpPr>
        <p:spPr>
          <a:xfrm>
            <a:off x="839788" y="3664424"/>
            <a:ext cx="4343400" cy="2204564"/>
          </a:xfrm>
        </p:spPr>
        <p:txBody>
          <a:bodyPr>
            <a:normAutofit/>
          </a:bodyPr>
          <a:lstStyle>
            <a:lvl1pPr marL="0" indent="0">
              <a:buNone/>
              <a:defRPr lang="en-US" sz="2400" i="1" kern="1200" dirty="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Font typeface="Arial" panose="020B0604020202020204" pitchFamily="34" charset="0"/>
              <a:buNone/>
            </a:pPr>
            <a:r>
              <a:rPr lang="en-US" dirty="0"/>
              <a:t>Click to edit Master text styles</a:t>
            </a:r>
          </a:p>
        </p:txBody>
      </p:sp>
      <p:sp>
        <p:nvSpPr>
          <p:cNvPr id="5" name="Date Placeholder 4">
            <a:extLst>
              <a:ext uri="{FF2B5EF4-FFF2-40B4-BE49-F238E27FC236}">
                <a16:creationId xmlns:a16="http://schemas.microsoft.com/office/drawing/2014/main" id="{11295030-39C7-4814-A766-1A3E094EBA15}"/>
              </a:ext>
            </a:extLst>
          </p:cNvPr>
          <p:cNvSpPr>
            <a:spLocks noGrp="1"/>
          </p:cNvSpPr>
          <p:nvPr>
            <p:ph type="dt" sz="half" idx="10"/>
          </p:nvPr>
        </p:nvSpPr>
        <p:spPr/>
        <p:txBody>
          <a:bodyPr/>
          <a:lstStyle/>
          <a:p>
            <a:fld id="{FD2766A6-3C10-4AB8-86A1-BB1F0CDA7EFE}" type="datetimeFigureOut">
              <a:rPr lang="en-US" smtClean="0"/>
              <a:t>4/17/2024</a:t>
            </a:fld>
            <a:endParaRPr lang="en-US"/>
          </a:p>
        </p:txBody>
      </p:sp>
      <p:sp>
        <p:nvSpPr>
          <p:cNvPr id="6" name="Footer Placeholder 5">
            <a:extLst>
              <a:ext uri="{FF2B5EF4-FFF2-40B4-BE49-F238E27FC236}">
                <a16:creationId xmlns:a16="http://schemas.microsoft.com/office/drawing/2014/main" id="{B91F02CD-DC87-47B6-96C4-F6470B1D8F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CFF531-02C2-4C1D-A692-7040378066C7}"/>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412163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26EC-DC54-4882-9D58-F201EA25C4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804E7C-4CBA-49AF-B24C-1A1FF51C21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D3C727-C0C7-4BBA-9CF5-6C1FAC76B10C}"/>
              </a:ext>
            </a:extLst>
          </p:cNvPr>
          <p:cNvSpPr>
            <a:spLocks noGrp="1"/>
          </p:cNvSpPr>
          <p:nvPr>
            <p:ph type="dt" sz="half" idx="10"/>
          </p:nvPr>
        </p:nvSpPr>
        <p:spPr/>
        <p:txBody>
          <a:bodyPr/>
          <a:lstStyle/>
          <a:p>
            <a:fld id="{FD2766A6-3C10-4AB8-86A1-BB1F0CDA7EFE}" type="datetimeFigureOut">
              <a:rPr lang="en-US" smtClean="0"/>
              <a:t>4/17/2024</a:t>
            </a:fld>
            <a:endParaRPr lang="en-US"/>
          </a:p>
        </p:txBody>
      </p:sp>
      <p:sp>
        <p:nvSpPr>
          <p:cNvPr id="5" name="Footer Placeholder 4">
            <a:extLst>
              <a:ext uri="{FF2B5EF4-FFF2-40B4-BE49-F238E27FC236}">
                <a16:creationId xmlns:a16="http://schemas.microsoft.com/office/drawing/2014/main" id="{34603986-C5B4-4956-AC6F-4F36186B8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5F941-E847-4C51-97D6-21066B26EB26}"/>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3669894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0338D2-D9EE-4B67-97C1-08ABD574530B}"/>
              </a:ext>
            </a:extLst>
          </p:cNvPr>
          <p:cNvSpPr>
            <a:spLocks noGrp="1"/>
          </p:cNvSpPr>
          <p:nvPr>
            <p:ph type="title" orient="vert"/>
          </p:nvPr>
        </p:nvSpPr>
        <p:spPr>
          <a:xfrm>
            <a:off x="7353848" y="365125"/>
            <a:ext cx="3999952" cy="581183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274B1422-6C1E-4422-80E8-34B0092FBF05}"/>
              </a:ext>
            </a:extLst>
          </p:cNvPr>
          <p:cNvSpPr>
            <a:spLocks noGrp="1"/>
          </p:cNvSpPr>
          <p:nvPr>
            <p:ph type="body" orient="vert" idx="1"/>
          </p:nvPr>
        </p:nvSpPr>
        <p:spPr>
          <a:xfrm>
            <a:off x="838200" y="365125"/>
            <a:ext cx="626546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C8B53C-3084-4BC0-A80E-DB41C04C6258}"/>
              </a:ext>
            </a:extLst>
          </p:cNvPr>
          <p:cNvSpPr>
            <a:spLocks noGrp="1"/>
          </p:cNvSpPr>
          <p:nvPr>
            <p:ph type="dt" sz="half" idx="10"/>
          </p:nvPr>
        </p:nvSpPr>
        <p:spPr/>
        <p:txBody>
          <a:bodyPr/>
          <a:lstStyle/>
          <a:p>
            <a:fld id="{FD2766A6-3C10-4AB8-86A1-BB1F0CDA7EFE}" type="datetimeFigureOut">
              <a:rPr lang="en-US" smtClean="0"/>
              <a:t>4/17/2024</a:t>
            </a:fld>
            <a:endParaRPr lang="en-US"/>
          </a:p>
        </p:txBody>
      </p:sp>
      <p:sp>
        <p:nvSpPr>
          <p:cNvPr id="5" name="Footer Placeholder 4">
            <a:extLst>
              <a:ext uri="{FF2B5EF4-FFF2-40B4-BE49-F238E27FC236}">
                <a16:creationId xmlns:a16="http://schemas.microsoft.com/office/drawing/2014/main" id="{8276BFDE-DC70-4A6E-90B8-337FC47254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C3578F-39AE-4F6F-9614-32EF672E616D}"/>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2403794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6818BD-D734-48A1-8CC0-609D11E5560E}"/>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AF9D215A-D2A1-4903-A905-F8B06EF41B4F}"/>
              </a:ext>
            </a:extLst>
          </p:cNvPr>
          <p:cNvSpPr>
            <a:spLocks noGrp="1"/>
          </p:cNvSpPr>
          <p:nvPr>
            <p:ph type="body" idx="1"/>
          </p:nvPr>
        </p:nvSpPr>
        <p:spPr>
          <a:xfrm>
            <a:off x="838200" y="1940875"/>
            <a:ext cx="10515600" cy="423608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42B88A-7A1D-4AA1-8536-28DC13D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D2766A6-3C10-4AB8-86A1-BB1F0CDA7EFE}" type="datetimeFigureOut">
              <a:rPr lang="en-US" smtClean="0"/>
              <a:pPr/>
              <a:t>4/17/2024</a:t>
            </a:fld>
            <a:endParaRPr lang="en-US" dirty="0"/>
          </a:p>
        </p:txBody>
      </p:sp>
      <p:sp>
        <p:nvSpPr>
          <p:cNvPr id="5" name="Footer Placeholder 4">
            <a:extLst>
              <a:ext uri="{FF2B5EF4-FFF2-40B4-BE49-F238E27FC236}">
                <a16:creationId xmlns:a16="http://schemas.microsoft.com/office/drawing/2014/main" id="{B37FE925-0C4B-4BAE-9799-3A9D46D920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ADAD54-E5C5-4D48-8592-BB22F0A851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3060201-1C40-4B39-813D-5CD9493BAEED}" type="slidenum">
              <a:rPr lang="en-US" smtClean="0"/>
              <a:pPr/>
              <a:t>‹#›</a:t>
            </a:fld>
            <a:endParaRPr lang="en-US"/>
          </a:p>
        </p:txBody>
      </p:sp>
    </p:spTree>
    <p:extLst>
      <p:ext uri="{BB962C8B-B14F-4D97-AF65-F5344CB8AC3E}">
        <p14:creationId xmlns:p14="http://schemas.microsoft.com/office/powerpoint/2010/main" val="4176194458"/>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53" r:id="rId6"/>
    <p:sldLayoutId id="2147483749" r:id="rId7"/>
    <p:sldLayoutId id="2147483750" r:id="rId8"/>
    <p:sldLayoutId id="2147483751" r:id="rId9"/>
    <p:sldLayoutId id="2147483752" r:id="rId10"/>
    <p:sldLayoutId id="2147483754" r:id="rId11"/>
  </p:sldLayoutIdLst>
  <p:txStyles>
    <p:titleStyle>
      <a:lvl1pPr algn="l" defTabSz="914400" rtl="0" eaLnBrk="1" latinLnBrk="0" hangingPunct="1">
        <a:lnSpc>
          <a:spcPct val="100000"/>
        </a:lnSpc>
        <a:spcBef>
          <a:spcPct val="0"/>
        </a:spcBef>
        <a:buNone/>
        <a:defRPr lang="en-US" sz="5400" kern="1200" smtClean="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p:titleStyle>
    <p:bodyStyle>
      <a:lvl1pPr marL="228600" indent="-228600" algn="l" defTabSz="914400" rtl="0" eaLnBrk="1" latinLnBrk="0" hangingPunct="1">
        <a:lnSpc>
          <a:spcPct val="110000"/>
        </a:lnSpc>
        <a:spcBef>
          <a:spcPts val="1000"/>
        </a:spcBef>
        <a:buClr>
          <a:schemeClr val="tx2"/>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8C37C960-91F5-4F61-B2CD-8A03792072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D31F3C-163E-01D0-14A4-3E2660F5DAC4}"/>
              </a:ext>
            </a:extLst>
          </p:cNvPr>
          <p:cNvSpPr>
            <a:spLocks noGrp="1"/>
          </p:cNvSpPr>
          <p:nvPr>
            <p:ph type="ctrTitle"/>
          </p:nvPr>
        </p:nvSpPr>
        <p:spPr>
          <a:xfrm>
            <a:off x="5853675" y="596644"/>
            <a:ext cx="5500125" cy="3435606"/>
          </a:xfrm>
        </p:spPr>
        <p:txBody>
          <a:bodyPr anchor="b">
            <a:normAutofit/>
          </a:bodyPr>
          <a:lstStyle/>
          <a:p>
            <a:pPr algn="r"/>
            <a:r>
              <a:rPr lang="en-US" dirty="0"/>
              <a:t>Loan Approval Predictions </a:t>
            </a:r>
          </a:p>
        </p:txBody>
      </p:sp>
      <p:sp>
        <p:nvSpPr>
          <p:cNvPr id="3" name="Subtitle 2">
            <a:extLst>
              <a:ext uri="{FF2B5EF4-FFF2-40B4-BE49-F238E27FC236}">
                <a16:creationId xmlns:a16="http://schemas.microsoft.com/office/drawing/2014/main" id="{0417FAE0-D462-07F1-737C-ADBBBA8330F8}"/>
              </a:ext>
            </a:extLst>
          </p:cNvPr>
          <p:cNvSpPr>
            <a:spLocks noGrp="1"/>
          </p:cNvSpPr>
          <p:nvPr>
            <p:ph type="subTitle" idx="1"/>
          </p:nvPr>
        </p:nvSpPr>
        <p:spPr>
          <a:xfrm>
            <a:off x="5853675" y="4298950"/>
            <a:ext cx="5500125" cy="1962406"/>
          </a:xfrm>
        </p:spPr>
        <p:txBody>
          <a:bodyPr>
            <a:normAutofit/>
          </a:bodyPr>
          <a:lstStyle/>
          <a:p>
            <a:pPr algn="r"/>
            <a:r>
              <a:rPr lang="en-US" dirty="0">
                <a:latin typeface="Calibri" panose="020F0502020204030204" pitchFamily="34" charset="0"/>
                <a:ea typeface="Calibri" panose="020F0502020204030204" pitchFamily="34" charset="0"/>
                <a:cs typeface="Calibri" panose="020F0502020204030204" pitchFamily="34" charset="0"/>
              </a:rPr>
              <a:t>BY</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Bharath Kumar Tanniru(02078210)</a:t>
            </a:r>
            <a:br>
              <a:rPr lang="en-US" dirty="0">
                <a:latin typeface="Calibri" panose="020F0502020204030204" pitchFamily="34" charset="0"/>
                <a:ea typeface="Calibri" panose="020F0502020204030204" pitchFamily="34" charset="0"/>
                <a:cs typeface="Calibri" panose="020F0502020204030204" pitchFamily="34" charset="0"/>
              </a:rPr>
            </a:br>
            <a:r>
              <a:rPr lang="en-US" dirty="0" err="1">
                <a:latin typeface="Calibri" panose="020F0502020204030204" pitchFamily="34" charset="0"/>
                <a:ea typeface="Calibri" panose="020F0502020204030204" pitchFamily="34" charset="0"/>
                <a:cs typeface="Calibri" panose="020F0502020204030204" pitchFamily="34" charset="0"/>
              </a:rPr>
              <a:t>Poojith</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Sonti</a:t>
            </a:r>
            <a:r>
              <a:rPr lang="en-US" dirty="0">
                <a:latin typeface="Calibri" panose="020F0502020204030204" pitchFamily="34" charset="0"/>
                <a:ea typeface="Calibri" panose="020F0502020204030204" pitchFamily="34" charset="0"/>
                <a:cs typeface="Calibri" panose="020F0502020204030204" pitchFamily="34" charset="0"/>
              </a:rPr>
              <a:t>(02080247)</a:t>
            </a:r>
          </a:p>
        </p:txBody>
      </p:sp>
      <p:pic>
        <p:nvPicPr>
          <p:cNvPr id="4" name="Picture 3" descr="Old wrinkled hands with some coins">
            <a:extLst>
              <a:ext uri="{FF2B5EF4-FFF2-40B4-BE49-F238E27FC236}">
                <a16:creationId xmlns:a16="http://schemas.microsoft.com/office/drawing/2014/main" id="{AFD8F1FC-313E-9A0B-A862-1B688A303399}"/>
              </a:ext>
            </a:extLst>
          </p:cNvPr>
          <p:cNvPicPr>
            <a:picLocks noChangeAspect="1"/>
          </p:cNvPicPr>
          <p:nvPr/>
        </p:nvPicPr>
        <p:blipFill rotWithShape="1">
          <a:blip r:embed="rId2"/>
          <a:srcRect l="11304" r="32312" b="-2"/>
          <a:stretch/>
        </p:blipFill>
        <p:spPr>
          <a:xfrm>
            <a:off x="601557" y="596644"/>
            <a:ext cx="4780081" cy="5658888"/>
          </a:xfrm>
          <a:prstGeom prst="rect">
            <a:avLst/>
          </a:prstGeom>
        </p:spPr>
      </p:pic>
    </p:spTree>
    <p:extLst>
      <p:ext uri="{BB962C8B-B14F-4D97-AF65-F5344CB8AC3E}">
        <p14:creationId xmlns:p14="http://schemas.microsoft.com/office/powerpoint/2010/main" val="1140178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4A600-6020-0A8F-C3C5-9D4BBE45A3FC}"/>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A517C13D-086E-1659-5DFF-AC2F075A5AAC}"/>
              </a:ext>
            </a:extLst>
          </p:cNvPr>
          <p:cNvSpPr>
            <a:spLocks noGrp="1"/>
          </p:cNvSpPr>
          <p:nvPr>
            <p:ph idx="1"/>
          </p:nvPr>
        </p:nvSpPr>
        <p:spPr/>
        <p:txBody>
          <a:bodyPr/>
          <a:lstStyle/>
          <a:p>
            <a:endParaRPr lang="en-US" dirty="0"/>
          </a:p>
          <a:p>
            <a:r>
              <a:rPr lang="en-US" dirty="0"/>
              <a:t>Loans play a crucial role in the global economy, facilitating everything from personal purchases like homes and cars to business expansions and government funding. Across the world, loans vary widely in terms of purpose, amount, duration, and interest rates, reflecting different economic conditions, regulatory environments, and credit markets. Financial institutions, including banks, credit unions, and online lenders, offer diverse lending products to meet the varied needs of consumers and businesses. The accessibility and terms of these loans can significantly influence economic growth and financial stability.</a:t>
            </a:r>
          </a:p>
        </p:txBody>
      </p:sp>
    </p:spTree>
    <p:extLst>
      <p:ext uri="{BB962C8B-B14F-4D97-AF65-F5344CB8AC3E}">
        <p14:creationId xmlns:p14="http://schemas.microsoft.com/office/powerpoint/2010/main" val="674746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67112-568A-3307-C431-0FE638419EE2}"/>
              </a:ext>
            </a:extLst>
          </p:cNvPr>
          <p:cNvSpPr>
            <a:spLocks noGrp="1"/>
          </p:cNvSpPr>
          <p:nvPr>
            <p:ph type="title"/>
          </p:nvPr>
        </p:nvSpPr>
        <p:spPr/>
        <p:txBody>
          <a:bodyPr/>
          <a:lstStyle/>
          <a:p>
            <a:r>
              <a:rPr lang="en-US" dirty="0"/>
              <a:t>Objective </a:t>
            </a:r>
          </a:p>
        </p:txBody>
      </p:sp>
      <p:sp>
        <p:nvSpPr>
          <p:cNvPr id="3" name="Content Placeholder 2">
            <a:extLst>
              <a:ext uri="{FF2B5EF4-FFF2-40B4-BE49-F238E27FC236}">
                <a16:creationId xmlns:a16="http://schemas.microsoft.com/office/drawing/2014/main" id="{8C11BDB9-D62A-D830-937C-C4936E78E9A8}"/>
              </a:ext>
            </a:extLst>
          </p:cNvPr>
          <p:cNvSpPr>
            <a:spLocks noGrp="1"/>
          </p:cNvSpPr>
          <p:nvPr>
            <p:ph idx="1"/>
          </p:nvPr>
        </p:nvSpPr>
        <p:spPr/>
        <p:txBody>
          <a:bodyPr/>
          <a:lstStyle/>
          <a:p>
            <a:r>
              <a:rPr lang="en-US" dirty="0"/>
              <a:t>The aim of a project on loan approval prediction using machine learning is to develop a system that can accurately and efficiently determine the likelihood of a loan applicant being approved based on various predictive factors. This project seeks to enhance decision-making processes for financial institutions by automating risk assessment, reducing potential biases, and increasing the speed of loan processing, ultimately making credit more accessible and reliable for eligible applicants.</a:t>
            </a:r>
          </a:p>
        </p:txBody>
      </p:sp>
    </p:spTree>
    <p:extLst>
      <p:ext uri="{BB962C8B-B14F-4D97-AF65-F5344CB8AC3E}">
        <p14:creationId xmlns:p14="http://schemas.microsoft.com/office/powerpoint/2010/main" val="3110657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7E314-18EB-8E26-5213-B364190939F6}"/>
              </a:ext>
            </a:extLst>
          </p:cNvPr>
          <p:cNvSpPr>
            <a:spLocks noGrp="1"/>
          </p:cNvSpPr>
          <p:nvPr>
            <p:ph type="title"/>
          </p:nvPr>
        </p:nvSpPr>
        <p:spPr/>
        <p:txBody>
          <a:bodyPr/>
          <a:lstStyle/>
          <a:p>
            <a:r>
              <a:rPr lang="en-US" dirty="0"/>
              <a:t>Dataset</a:t>
            </a:r>
          </a:p>
        </p:txBody>
      </p:sp>
      <p:sp>
        <p:nvSpPr>
          <p:cNvPr id="3" name="Content Placeholder 2">
            <a:extLst>
              <a:ext uri="{FF2B5EF4-FFF2-40B4-BE49-F238E27FC236}">
                <a16:creationId xmlns:a16="http://schemas.microsoft.com/office/drawing/2014/main" id="{D408AEC4-A6CE-7F48-606A-C4BA5667E9BD}"/>
              </a:ext>
            </a:extLst>
          </p:cNvPr>
          <p:cNvSpPr>
            <a:spLocks noGrp="1"/>
          </p:cNvSpPr>
          <p:nvPr>
            <p:ph idx="1"/>
          </p:nvPr>
        </p:nvSpPr>
        <p:spPr/>
        <p:txBody>
          <a:bodyPr/>
          <a:lstStyle/>
          <a:p>
            <a:r>
              <a:rPr lang="en-US" dirty="0"/>
              <a:t>We took the dataset from Kaggle.</a:t>
            </a:r>
          </a:p>
          <a:p>
            <a:r>
              <a:rPr lang="en-US" dirty="0"/>
              <a:t>This is sample of dataset.</a:t>
            </a:r>
          </a:p>
          <a:p>
            <a:endParaRPr lang="en-US" dirty="0"/>
          </a:p>
          <a:p>
            <a:pPr marL="0" indent="0">
              <a:buNone/>
            </a:pPr>
            <a:endParaRPr lang="en-US" dirty="0"/>
          </a:p>
          <a:p>
            <a:endParaRPr lang="en-US" dirty="0"/>
          </a:p>
        </p:txBody>
      </p:sp>
      <p:pic>
        <p:nvPicPr>
          <p:cNvPr id="5" name="Picture 4">
            <a:extLst>
              <a:ext uri="{FF2B5EF4-FFF2-40B4-BE49-F238E27FC236}">
                <a16:creationId xmlns:a16="http://schemas.microsoft.com/office/drawing/2014/main" id="{6B6A30C9-465F-7DC9-4038-BE58F9BA3233}"/>
              </a:ext>
            </a:extLst>
          </p:cNvPr>
          <p:cNvPicPr>
            <a:picLocks noChangeAspect="1"/>
          </p:cNvPicPr>
          <p:nvPr/>
        </p:nvPicPr>
        <p:blipFill>
          <a:blip r:embed="rId2"/>
          <a:stretch>
            <a:fillRect/>
          </a:stretch>
        </p:blipFill>
        <p:spPr>
          <a:xfrm>
            <a:off x="1104120" y="2816869"/>
            <a:ext cx="9472481" cy="2236912"/>
          </a:xfrm>
          <a:prstGeom prst="rect">
            <a:avLst/>
          </a:prstGeom>
        </p:spPr>
      </p:pic>
    </p:spTree>
    <p:extLst>
      <p:ext uri="{BB962C8B-B14F-4D97-AF65-F5344CB8AC3E}">
        <p14:creationId xmlns:p14="http://schemas.microsoft.com/office/powerpoint/2010/main" val="2690028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5D3E2EEE-5E2B-473D-B932-CC1CB66592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74FCD8-8103-DA04-A683-1B17FB4BDA23}"/>
              </a:ext>
            </a:extLst>
          </p:cNvPr>
          <p:cNvSpPr>
            <a:spLocks noGrp="1"/>
          </p:cNvSpPr>
          <p:nvPr>
            <p:ph type="title"/>
          </p:nvPr>
        </p:nvSpPr>
        <p:spPr>
          <a:xfrm>
            <a:off x="838200" y="365126"/>
            <a:ext cx="10668000" cy="1038508"/>
          </a:xfrm>
        </p:spPr>
        <p:txBody>
          <a:bodyPr>
            <a:normAutofit/>
          </a:bodyPr>
          <a:lstStyle/>
          <a:p>
            <a:r>
              <a:rPr lang="en-US" dirty="0"/>
              <a:t>Pipeline</a:t>
            </a:r>
          </a:p>
        </p:txBody>
      </p:sp>
      <p:sp>
        <p:nvSpPr>
          <p:cNvPr id="3" name="Content Placeholder 2">
            <a:extLst>
              <a:ext uri="{FF2B5EF4-FFF2-40B4-BE49-F238E27FC236}">
                <a16:creationId xmlns:a16="http://schemas.microsoft.com/office/drawing/2014/main" id="{EF81B6FF-065D-9BBC-6BB5-B784B9552350}"/>
              </a:ext>
            </a:extLst>
          </p:cNvPr>
          <p:cNvSpPr>
            <a:spLocks/>
          </p:cNvSpPr>
          <p:nvPr/>
        </p:nvSpPr>
        <p:spPr>
          <a:xfrm>
            <a:off x="838200" y="1940875"/>
            <a:ext cx="10515600" cy="4236087"/>
          </a:xfrm>
          <a:prstGeom prst="rect">
            <a:avLst/>
          </a:prstGeom>
        </p:spPr>
        <p:txBody>
          <a:bodyPr/>
          <a:lstStyle/>
          <a:p>
            <a:endParaRPr lang="en-US" dirty="0"/>
          </a:p>
        </p:txBody>
      </p:sp>
      <p:sp>
        <p:nvSpPr>
          <p:cNvPr id="4" name="Rectangle 3">
            <a:extLst>
              <a:ext uri="{FF2B5EF4-FFF2-40B4-BE49-F238E27FC236}">
                <a16:creationId xmlns:a16="http://schemas.microsoft.com/office/drawing/2014/main" id="{E1E91D9C-40BE-FD86-B861-EB5E9DF9412C}"/>
              </a:ext>
            </a:extLst>
          </p:cNvPr>
          <p:cNvSpPr/>
          <p:nvPr/>
        </p:nvSpPr>
        <p:spPr>
          <a:xfrm>
            <a:off x="838200" y="2530411"/>
            <a:ext cx="1557867" cy="8045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688">
              <a:spcAft>
                <a:spcPts val="600"/>
              </a:spcAft>
            </a:pPr>
            <a:r>
              <a:rPr lang="en-US" sz="1836" kern="1200" dirty="0">
                <a:solidFill>
                  <a:srgbClr val="555555"/>
                </a:solidFill>
                <a:latin typeface="+mn-lt"/>
                <a:ea typeface="+mn-ea"/>
                <a:cs typeface="+mn-cs"/>
              </a:rPr>
              <a:t>Collection of Dataset</a:t>
            </a:r>
            <a:endParaRPr lang="en-US" dirty="0"/>
          </a:p>
        </p:txBody>
      </p:sp>
      <p:cxnSp>
        <p:nvCxnSpPr>
          <p:cNvPr id="5" name="Straight Connector 4">
            <a:extLst>
              <a:ext uri="{FF2B5EF4-FFF2-40B4-BE49-F238E27FC236}">
                <a16:creationId xmlns:a16="http://schemas.microsoft.com/office/drawing/2014/main" id="{F2539849-3EEF-A7FA-5C2D-9DEB60103F1B}"/>
              </a:ext>
            </a:extLst>
          </p:cNvPr>
          <p:cNvCxnSpPr/>
          <p:nvPr/>
        </p:nvCxnSpPr>
        <p:spPr>
          <a:xfrm>
            <a:off x="2431477" y="2970615"/>
            <a:ext cx="1090507"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2F00DC0A-E642-9866-9352-835E8BBEC11D}"/>
              </a:ext>
            </a:extLst>
          </p:cNvPr>
          <p:cNvSpPr/>
          <p:nvPr/>
        </p:nvSpPr>
        <p:spPr>
          <a:xfrm>
            <a:off x="3486573" y="2550368"/>
            <a:ext cx="1791547" cy="7785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688">
              <a:spcAft>
                <a:spcPts val="600"/>
              </a:spcAft>
            </a:pPr>
            <a:r>
              <a:rPr lang="en-US" sz="1836" dirty="0">
                <a:solidFill>
                  <a:srgbClr val="555555"/>
                </a:solidFill>
              </a:rPr>
              <a:t>Preprocessing</a:t>
            </a:r>
            <a:endParaRPr lang="en-US" dirty="0"/>
          </a:p>
        </p:txBody>
      </p:sp>
      <p:cxnSp>
        <p:nvCxnSpPr>
          <p:cNvPr id="7" name="Straight Connector 6">
            <a:extLst>
              <a:ext uri="{FF2B5EF4-FFF2-40B4-BE49-F238E27FC236}">
                <a16:creationId xmlns:a16="http://schemas.microsoft.com/office/drawing/2014/main" id="{945DE201-83E6-B996-3294-3629C2B65CC9}"/>
              </a:ext>
            </a:extLst>
          </p:cNvPr>
          <p:cNvCxnSpPr/>
          <p:nvPr/>
        </p:nvCxnSpPr>
        <p:spPr>
          <a:xfrm>
            <a:off x="5044440" y="2940160"/>
            <a:ext cx="1246293" cy="4"/>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2D4323C1-D6D5-6A3F-E012-EB4DF70AFDF2}"/>
              </a:ext>
            </a:extLst>
          </p:cNvPr>
          <p:cNvSpPr/>
          <p:nvPr/>
        </p:nvSpPr>
        <p:spPr>
          <a:xfrm>
            <a:off x="6290733" y="2550697"/>
            <a:ext cx="1557867" cy="7787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688">
              <a:spcAft>
                <a:spcPts val="600"/>
              </a:spcAft>
            </a:pPr>
            <a:r>
              <a:rPr lang="en-US" sz="1836" kern="1200" dirty="0">
                <a:solidFill>
                  <a:srgbClr val="555555"/>
                </a:solidFill>
                <a:latin typeface="+mn-lt"/>
                <a:ea typeface="+mn-ea"/>
                <a:cs typeface="+mn-cs"/>
              </a:rPr>
              <a:t> </a:t>
            </a:r>
            <a:r>
              <a:rPr lang="en-US" sz="1836" dirty="0">
                <a:solidFill>
                  <a:srgbClr val="555555"/>
                </a:solidFill>
              </a:rPr>
              <a:t>Data Handling</a:t>
            </a:r>
            <a:endParaRPr lang="en-US" dirty="0"/>
          </a:p>
        </p:txBody>
      </p:sp>
      <p:cxnSp>
        <p:nvCxnSpPr>
          <p:cNvPr id="9" name="Straight Connector 8">
            <a:extLst>
              <a:ext uri="{FF2B5EF4-FFF2-40B4-BE49-F238E27FC236}">
                <a16:creationId xmlns:a16="http://schemas.microsoft.com/office/drawing/2014/main" id="{3645D875-5BE0-631E-E666-5BCE1CC0F3B9}"/>
              </a:ext>
            </a:extLst>
          </p:cNvPr>
          <p:cNvCxnSpPr/>
          <p:nvPr/>
        </p:nvCxnSpPr>
        <p:spPr>
          <a:xfrm>
            <a:off x="7848600" y="2940096"/>
            <a:ext cx="1168400" cy="67"/>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C1FE497-810F-6EC0-A6EC-D69226EB9C1B}"/>
              </a:ext>
            </a:extLst>
          </p:cNvPr>
          <p:cNvSpPr/>
          <p:nvPr/>
        </p:nvSpPr>
        <p:spPr>
          <a:xfrm>
            <a:off x="9017000" y="2550697"/>
            <a:ext cx="1791547" cy="7785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688">
              <a:spcAft>
                <a:spcPts val="600"/>
              </a:spcAft>
            </a:pPr>
            <a:r>
              <a:rPr lang="en-US" sz="1836" dirty="0">
                <a:solidFill>
                  <a:srgbClr val="555555"/>
                </a:solidFill>
              </a:rPr>
              <a:t>Data </a:t>
            </a:r>
            <a:r>
              <a:rPr lang="en-US" sz="1836" dirty="0" err="1">
                <a:solidFill>
                  <a:srgbClr val="555555"/>
                </a:solidFill>
              </a:rPr>
              <a:t>Spliting</a:t>
            </a:r>
            <a:endParaRPr lang="en-US" dirty="0"/>
          </a:p>
        </p:txBody>
      </p:sp>
      <p:sp>
        <p:nvSpPr>
          <p:cNvPr id="11" name="Rectangle 10">
            <a:extLst>
              <a:ext uri="{FF2B5EF4-FFF2-40B4-BE49-F238E27FC236}">
                <a16:creationId xmlns:a16="http://schemas.microsoft.com/office/drawing/2014/main" id="{6A7CC977-B37A-B650-C285-4B6C6B2B086A}"/>
              </a:ext>
            </a:extLst>
          </p:cNvPr>
          <p:cNvSpPr/>
          <p:nvPr/>
        </p:nvSpPr>
        <p:spPr>
          <a:xfrm>
            <a:off x="8705427" y="4186457"/>
            <a:ext cx="2648373" cy="14016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688">
              <a:spcAft>
                <a:spcPts val="600"/>
              </a:spcAft>
            </a:pPr>
            <a:r>
              <a:rPr lang="en-US" sz="1836" kern="1200" dirty="0">
                <a:solidFill>
                  <a:srgbClr val="555555"/>
                </a:solidFill>
                <a:latin typeface="+mn-lt"/>
                <a:ea typeface="+mn-ea"/>
                <a:cs typeface="+mn-cs"/>
              </a:rPr>
              <a:t>Training the model using </a:t>
            </a:r>
            <a:r>
              <a:rPr lang="en-US" sz="1836" dirty="0" err="1">
                <a:solidFill>
                  <a:srgbClr val="555555"/>
                </a:solidFill>
              </a:rPr>
              <a:t>RandomForest</a:t>
            </a:r>
            <a:endParaRPr lang="en-US" sz="1836" kern="1200" dirty="0">
              <a:solidFill>
                <a:srgbClr val="555555"/>
              </a:solidFill>
              <a:latin typeface="+mn-lt"/>
              <a:ea typeface="+mn-ea"/>
              <a:cs typeface="+mn-cs"/>
            </a:endParaRPr>
          </a:p>
          <a:p>
            <a:pPr algn="ctr">
              <a:spcAft>
                <a:spcPts val="600"/>
              </a:spcAft>
            </a:pPr>
            <a:endParaRPr lang="en-US" dirty="0"/>
          </a:p>
        </p:txBody>
      </p:sp>
      <p:cxnSp>
        <p:nvCxnSpPr>
          <p:cNvPr id="12" name="Straight Connector 11">
            <a:extLst>
              <a:ext uri="{FF2B5EF4-FFF2-40B4-BE49-F238E27FC236}">
                <a16:creationId xmlns:a16="http://schemas.microsoft.com/office/drawing/2014/main" id="{04840332-39E8-0320-C155-1D3FB5047BFE}"/>
              </a:ext>
            </a:extLst>
          </p:cNvPr>
          <p:cNvCxnSpPr/>
          <p:nvPr/>
        </p:nvCxnSpPr>
        <p:spPr>
          <a:xfrm>
            <a:off x="9951720" y="3329630"/>
            <a:ext cx="0" cy="856827"/>
          </a:xfrm>
          <a:prstGeom prst="line">
            <a:avLst/>
          </a:prstGeom>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10652C8-C379-2A9D-0133-067F866FDC50}"/>
              </a:ext>
            </a:extLst>
          </p:cNvPr>
          <p:cNvSpPr/>
          <p:nvPr/>
        </p:nvSpPr>
        <p:spPr>
          <a:xfrm>
            <a:off x="4966547" y="4186457"/>
            <a:ext cx="2336801" cy="14016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688">
              <a:spcAft>
                <a:spcPts val="600"/>
              </a:spcAft>
            </a:pPr>
            <a:r>
              <a:rPr lang="en-US" sz="1836" dirty="0">
                <a:solidFill>
                  <a:srgbClr val="555555"/>
                </a:solidFill>
              </a:rPr>
              <a:t>Prediction</a:t>
            </a:r>
            <a:endParaRPr lang="en-US" sz="1836" kern="1200" dirty="0">
              <a:solidFill>
                <a:srgbClr val="555555"/>
              </a:solidFill>
              <a:latin typeface="+mn-lt"/>
              <a:ea typeface="+mn-ea"/>
              <a:cs typeface="+mn-cs"/>
            </a:endParaRPr>
          </a:p>
          <a:p>
            <a:pPr algn="ctr">
              <a:spcAft>
                <a:spcPts val="600"/>
              </a:spcAft>
            </a:pPr>
            <a:endParaRPr lang="en-US" dirty="0"/>
          </a:p>
        </p:txBody>
      </p:sp>
      <p:cxnSp>
        <p:nvCxnSpPr>
          <p:cNvPr id="14" name="Straight Connector 13">
            <a:extLst>
              <a:ext uri="{FF2B5EF4-FFF2-40B4-BE49-F238E27FC236}">
                <a16:creationId xmlns:a16="http://schemas.microsoft.com/office/drawing/2014/main" id="{757A0EC1-8F47-EC8E-C493-AC0551611F50}"/>
              </a:ext>
            </a:extLst>
          </p:cNvPr>
          <p:cNvCxnSpPr>
            <a:stCxn id="11" idx="1"/>
            <a:endCxn id="13" idx="3"/>
          </p:cNvCxnSpPr>
          <p:nvPr/>
        </p:nvCxnSpPr>
        <p:spPr>
          <a:xfrm flipH="1" flipV="1">
            <a:off x="7303348" y="4887259"/>
            <a:ext cx="1402079" cy="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8701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A9B95-2808-36C0-8F8F-9A4D3E26758B}"/>
              </a:ext>
            </a:extLst>
          </p:cNvPr>
          <p:cNvSpPr>
            <a:spLocks noGrp="1"/>
          </p:cNvSpPr>
          <p:nvPr>
            <p:ph type="title"/>
          </p:nvPr>
        </p:nvSpPr>
        <p:spPr/>
        <p:txBody>
          <a:bodyPr/>
          <a:lstStyle/>
          <a:p>
            <a:r>
              <a:rPr lang="en-US" dirty="0"/>
              <a:t>Data Visualization</a:t>
            </a:r>
          </a:p>
        </p:txBody>
      </p:sp>
      <p:pic>
        <p:nvPicPr>
          <p:cNvPr id="2050" name="Picture 2">
            <a:extLst>
              <a:ext uri="{FF2B5EF4-FFF2-40B4-BE49-F238E27FC236}">
                <a16:creationId xmlns:a16="http://schemas.microsoft.com/office/drawing/2014/main" id="{4F06F977-5C76-6731-A11B-528F04174AD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24283" y="1789390"/>
            <a:ext cx="6727307" cy="42354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3924EE4-44E4-D38A-F2C4-001EB6493652}"/>
              </a:ext>
            </a:extLst>
          </p:cNvPr>
          <p:cNvSpPr txBox="1"/>
          <p:nvPr/>
        </p:nvSpPr>
        <p:spPr>
          <a:xfrm>
            <a:off x="6334015" y="6123543"/>
            <a:ext cx="5279923" cy="369332"/>
          </a:xfrm>
          <a:prstGeom prst="rect">
            <a:avLst/>
          </a:prstGeom>
          <a:noFill/>
        </p:spPr>
        <p:txBody>
          <a:bodyPr wrap="square" rtlCol="0">
            <a:spAutoFit/>
          </a:bodyPr>
          <a:lstStyle/>
          <a:p>
            <a:pPr algn="ctr"/>
            <a:r>
              <a:rPr lang="en-US" dirty="0"/>
              <a:t>Correlation Matrix</a:t>
            </a:r>
          </a:p>
        </p:txBody>
      </p:sp>
      <p:sp>
        <p:nvSpPr>
          <p:cNvPr id="5" name="TextBox 4">
            <a:extLst>
              <a:ext uri="{FF2B5EF4-FFF2-40B4-BE49-F238E27FC236}">
                <a16:creationId xmlns:a16="http://schemas.microsoft.com/office/drawing/2014/main" id="{741E7531-F9D8-FDDE-A5C6-3DADD1212630}"/>
              </a:ext>
            </a:extLst>
          </p:cNvPr>
          <p:cNvSpPr txBox="1"/>
          <p:nvPr/>
        </p:nvSpPr>
        <p:spPr>
          <a:xfrm>
            <a:off x="235975" y="2477729"/>
            <a:ext cx="4650656" cy="2308324"/>
          </a:xfrm>
          <a:prstGeom prst="rect">
            <a:avLst/>
          </a:prstGeom>
          <a:noFill/>
        </p:spPr>
        <p:txBody>
          <a:bodyPr wrap="square" rtlCol="0">
            <a:spAutoFit/>
          </a:bodyPr>
          <a:lstStyle/>
          <a:p>
            <a:pPr marL="285750" indent="-285750">
              <a:buFont typeface="Arial" panose="020B0604020202020204" pitchFamily="34" charset="0"/>
              <a:buChar char="•"/>
            </a:pPr>
            <a:r>
              <a:rPr lang="en-US" dirty="0"/>
              <a:t>The heatmap visualizes correlations between various loan-related variables.</a:t>
            </a:r>
          </a:p>
          <a:p>
            <a:pPr marL="285750" indent="-285750">
              <a:buFont typeface="Arial" panose="020B0604020202020204" pitchFamily="34" charset="0"/>
              <a:buChar char="•"/>
            </a:pPr>
            <a:r>
              <a:rPr lang="en-US" dirty="0"/>
              <a:t> Values close to 1 or -1 indicate strong positive or negative relationships, respectively. </a:t>
            </a:r>
          </a:p>
          <a:p>
            <a:pPr marL="285750" indent="-285750">
              <a:buFont typeface="Arial" panose="020B0604020202020204" pitchFamily="34" charset="0"/>
              <a:buChar char="•"/>
            </a:pPr>
            <a:r>
              <a:rPr lang="en-US" dirty="0"/>
              <a:t>The data is used to understand how different applicant attributes might affect loan approval chances.</a:t>
            </a:r>
          </a:p>
        </p:txBody>
      </p:sp>
    </p:spTree>
    <p:extLst>
      <p:ext uri="{BB962C8B-B14F-4D97-AF65-F5344CB8AC3E}">
        <p14:creationId xmlns:p14="http://schemas.microsoft.com/office/powerpoint/2010/main" val="3552557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4CD27-F394-164A-2CF1-3AFBA73C8AF2}"/>
              </a:ext>
            </a:extLst>
          </p:cNvPr>
          <p:cNvSpPr>
            <a:spLocks noGrp="1"/>
          </p:cNvSpPr>
          <p:nvPr>
            <p:ph type="title"/>
          </p:nvPr>
        </p:nvSpPr>
        <p:spPr/>
        <p:txBody>
          <a:bodyPr/>
          <a:lstStyle/>
          <a:p>
            <a:r>
              <a:rPr lang="en-US" dirty="0"/>
              <a:t>Splitting of Data </a:t>
            </a:r>
          </a:p>
        </p:txBody>
      </p:sp>
      <p:sp>
        <p:nvSpPr>
          <p:cNvPr id="3" name="Content Placeholder 2">
            <a:extLst>
              <a:ext uri="{FF2B5EF4-FFF2-40B4-BE49-F238E27FC236}">
                <a16:creationId xmlns:a16="http://schemas.microsoft.com/office/drawing/2014/main" id="{22139691-F69F-2502-9ABF-8A304F71201F}"/>
              </a:ext>
            </a:extLst>
          </p:cNvPr>
          <p:cNvSpPr>
            <a:spLocks noGrp="1"/>
          </p:cNvSpPr>
          <p:nvPr>
            <p:ph idx="1"/>
          </p:nvPr>
        </p:nvSpPr>
        <p:spPr/>
        <p:txBody>
          <a:bodyPr/>
          <a:lstStyle/>
          <a:p>
            <a:r>
              <a:rPr lang="en-US" dirty="0"/>
              <a:t>We have split Data In to two parts Train set and test set.</a:t>
            </a:r>
          </a:p>
          <a:p>
            <a:r>
              <a:rPr lang="en-US" dirty="0"/>
              <a:t>For Test set we took data up to 40%.</a:t>
            </a:r>
          </a:p>
          <a:p>
            <a:endParaRPr lang="en-US" dirty="0"/>
          </a:p>
          <a:p>
            <a:endParaRPr lang="en-US" dirty="0"/>
          </a:p>
          <a:p>
            <a:endParaRPr lang="en-US" dirty="0"/>
          </a:p>
        </p:txBody>
      </p:sp>
      <p:pic>
        <p:nvPicPr>
          <p:cNvPr id="9" name="Picture 8">
            <a:extLst>
              <a:ext uri="{FF2B5EF4-FFF2-40B4-BE49-F238E27FC236}">
                <a16:creationId xmlns:a16="http://schemas.microsoft.com/office/drawing/2014/main" id="{A0346CA2-563D-E606-5021-E8924459E831}"/>
              </a:ext>
            </a:extLst>
          </p:cNvPr>
          <p:cNvPicPr>
            <a:picLocks noChangeAspect="1"/>
          </p:cNvPicPr>
          <p:nvPr/>
        </p:nvPicPr>
        <p:blipFill>
          <a:blip r:embed="rId2"/>
          <a:stretch>
            <a:fillRect/>
          </a:stretch>
        </p:blipFill>
        <p:spPr>
          <a:xfrm>
            <a:off x="1897016" y="3226601"/>
            <a:ext cx="8397968" cy="2331922"/>
          </a:xfrm>
          <a:prstGeom prst="rect">
            <a:avLst/>
          </a:prstGeom>
        </p:spPr>
      </p:pic>
    </p:spTree>
    <p:extLst>
      <p:ext uri="{BB962C8B-B14F-4D97-AF65-F5344CB8AC3E}">
        <p14:creationId xmlns:p14="http://schemas.microsoft.com/office/powerpoint/2010/main" val="946609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4E232-B958-F8FC-88C1-706566F8060F}"/>
              </a:ext>
            </a:extLst>
          </p:cNvPr>
          <p:cNvSpPr>
            <a:spLocks noGrp="1"/>
          </p:cNvSpPr>
          <p:nvPr>
            <p:ph type="title"/>
          </p:nvPr>
        </p:nvSpPr>
        <p:spPr/>
        <p:txBody>
          <a:bodyPr/>
          <a:lstStyle/>
          <a:p>
            <a:r>
              <a:rPr lang="en-US" dirty="0"/>
              <a:t>Accuracy of each Model</a:t>
            </a:r>
          </a:p>
        </p:txBody>
      </p:sp>
      <p:sp>
        <p:nvSpPr>
          <p:cNvPr id="3" name="Content Placeholder 2">
            <a:extLst>
              <a:ext uri="{FF2B5EF4-FFF2-40B4-BE49-F238E27FC236}">
                <a16:creationId xmlns:a16="http://schemas.microsoft.com/office/drawing/2014/main" id="{66745A82-0BB6-F90F-4A44-E1B537372442}"/>
              </a:ext>
            </a:extLst>
          </p:cNvPr>
          <p:cNvSpPr>
            <a:spLocks noGrp="1"/>
          </p:cNvSpPr>
          <p:nvPr>
            <p:ph idx="1"/>
          </p:nvPr>
        </p:nvSpPr>
        <p:spPr/>
        <p:txBody>
          <a:bodyPr/>
          <a:lstStyle/>
          <a:p>
            <a:r>
              <a:rPr lang="en-US" dirty="0"/>
              <a:t>For Train set</a:t>
            </a:r>
          </a:p>
          <a:p>
            <a:endParaRPr lang="en-US" dirty="0"/>
          </a:p>
          <a:p>
            <a:endParaRPr lang="en-US" dirty="0"/>
          </a:p>
          <a:p>
            <a:endParaRPr lang="en-US" dirty="0"/>
          </a:p>
          <a:p>
            <a:r>
              <a:rPr lang="en-US" dirty="0"/>
              <a:t>For Test set </a:t>
            </a:r>
          </a:p>
          <a:p>
            <a:pPr marL="0" indent="0">
              <a:buNone/>
            </a:pPr>
            <a:r>
              <a:rPr lang="en-US" dirty="0"/>
              <a:t> </a:t>
            </a:r>
            <a:br>
              <a:rPr lang="en-US" dirty="0"/>
            </a:br>
            <a:endParaRPr lang="en-US" dirty="0"/>
          </a:p>
        </p:txBody>
      </p:sp>
      <p:pic>
        <p:nvPicPr>
          <p:cNvPr id="5" name="Picture 4">
            <a:extLst>
              <a:ext uri="{FF2B5EF4-FFF2-40B4-BE49-F238E27FC236}">
                <a16:creationId xmlns:a16="http://schemas.microsoft.com/office/drawing/2014/main" id="{B744A304-CCF1-D869-4275-65181F03B8D9}"/>
              </a:ext>
            </a:extLst>
          </p:cNvPr>
          <p:cNvPicPr>
            <a:picLocks noChangeAspect="1"/>
          </p:cNvPicPr>
          <p:nvPr/>
        </p:nvPicPr>
        <p:blipFill>
          <a:blip r:embed="rId2"/>
          <a:stretch>
            <a:fillRect/>
          </a:stretch>
        </p:blipFill>
        <p:spPr>
          <a:xfrm>
            <a:off x="1280087" y="2459016"/>
            <a:ext cx="4519052" cy="969984"/>
          </a:xfrm>
          <a:prstGeom prst="rect">
            <a:avLst/>
          </a:prstGeom>
        </p:spPr>
      </p:pic>
      <p:pic>
        <p:nvPicPr>
          <p:cNvPr id="8" name="Picture 7">
            <a:extLst>
              <a:ext uri="{FF2B5EF4-FFF2-40B4-BE49-F238E27FC236}">
                <a16:creationId xmlns:a16="http://schemas.microsoft.com/office/drawing/2014/main" id="{A777F852-931D-5CEC-6202-8F22DE595AA9}"/>
              </a:ext>
            </a:extLst>
          </p:cNvPr>
          <p:cNvPicPr>
            <a:picLocks noChangeAspect="1"/>
          </p:cNvPicPr>
          <p:nvPr/>
        </p:nvPicPr>
        <p:blipFill>
          <a:blip r:embed="rId3"/>
          <a:stretch>
            <a:fillRect/>
          </a:stretch>
        </p:blipFill>
        <p:spPr>
          <a:xfrm>
            <a:off x="1158156" y="4323336"/>
            <a:ext cx="4762913" cy="969984"/>
          </a:xfrm>
          <a:prstGeom prst="rect">
            <a:avLst/>
          </a:prstGeom>
        </p:spPr>
      </p:pic>
    </p:spTree>
    <p:extLst>
      <p:ext uri="{BB962C8B-B14F-4D97-AF65-F5344CB8AC3E}">
        <p14:creationId xmlns:p14="http://schemas.microsoft.com/office/powerpoint/2010/main" val="3959305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37D05-D657-EB37-F44B-51DDB7F8006B}"/>
              </a:ext>
            </a:extLst>
          </p:cNvPr>
          <p:cNvSpPr>
            <a:spLocks noGrp="1"/>
          </p:cNvSpPr>
          <p:nvPr>
            <p:ph type="title"/>
          </p:nvPr>
        </p:nvSpPr>
        <p:spPr/>
        <p:txBody>
          <a:bodyPr/>
          <a:lstStyle/>
          <a:p>
            <a:r>
              <a:rPr lang="en-US" dirty="0"/>
              <a:t>Evaluation </a:t>
            </a:r>
          </a:p>
        </p:txBody>
      </p:sp>
      <p:sp>
        <p:nvSpPr>
          <p:cNvPr id="3" name="Content Placeholder 2">
            <a:extLst>
              <a:ext uri="{FF2B5EF4-FFF2-40B4-BE49-F238E27FC236}">
                <a16:creationId xmlns:a16="http://schemas.microsoft.com/office/drawing/2014/main" id="{CF83C671-401C-98EF-9246-79D084B97864}"/>
              </a:ext>
            </a:extLst>
          </p:cNvPr>
          <p:cNvSpPr>
            <a:spLocks noGrp="1"/>
          </p:cNvSpPr>
          <p:nvPr>
            <p:ph idx="1"/>
          </p:nvPr>
        </p:nvSpPr>
        <p:spPr/>
        <p:txBody>
          <a:bodyPr/>
          <a:lstStyle/>
          <a:p>
            <a:r>
              <a:rPr lang="en-US" dirty="0"/>
              <a:t>We used Random forest Classifier for predictions due its high accuracy of 82%.</a:t>
            </a:r>
          </a:p>
          <a:p>
            <a:r>
              <a:rPr lang="en-US" dirty="0"/>
              <a:t>These are the 100 predictions from the test set.</a:t>
            </a:r>
          </a:p>
          <a:p>
            <a:r>
              <a:rPr lang="en-US" dirty="0"/>
              <a:t>Here 0 indicates that loan is not approved and 1 indicates loan is approved.</a:t>
            </a:r>
            <a:br>
              <a:rPr lang="en-US" dirty="0"/>
            </a:br>
            <a:endParaRPr lang="en-US" dirty="0"/>
          </a:p>
          <a:p>
            <a:endParaRPr lang="en-US" dirty="0"/>
          </a:p>
        </p:txBody>
      </p:sp>
      <p:pic>
        <p:nvPicPr>
          <p:cNvPr id="5" name="Picture 4">
            <a:extLst>
              <a:ext uri="{FF2B5EF4-FFF2-40B4-BE49-F238E27FC236}">
                <a16:creationId xmlns:a16="http://schemas.microsoft.com/office/drawing/2014/main" id="{CA5C6C85-BEE3-7A65-3F1D-0FC6BD8D8599}"/>
              </a:ext>
            </a:extLst>
          </p:cNvPr>
          <p:cNvPicPr>
            <a:picLocks noChangeAspect="1"/>
          </p:cNvPicPr>
          <p:nvPr/>
        </p:nvPicPr>
        <p:blipFill>
          <a:blip r:embed="rId2"/>
          <a:stretch>
            <a:fillRect/>
          </a:stretch>
        </p:blipFill>
        <p:spPr>
          <a:xfrm>
            <a:off x="2275598" y="3293806"/>
            <a:ext cx="7483488" cy="1523999"/>
          </a:xfrm>
          <a:prstGeom prst="rect">
            <a:avLst/>
          </a:prstGeom>
        </p:spPr>
      </p:pic>
    </p:spTree>
    <p:extLst>
      <p:ext uri="{BB962C8B-B14F-4D97-AF65-F5344CB8AC3E}">
        <p14:creationId xmlns:p14="http://schemas.microsoft.com/office/powerpoint/2010/main" val="388709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368F9D89-54B8-41F8-8839-49992D6458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442C20-610C-C6B7-A1DA-4AB73C8E3245}"/>
              </a:ext>
            </a:extLst>
          </p:cNvPr>
          <p:cNvSpPr>
            <a:spLocks noGrp="1"/>
          </p:cNvSpPr>
          <p:nvPr>
            <p:ph type="title"/>
          </p:nvPr>
        </p:nvSpPr>
        <p:spPr>
          <a:xfrm>
            <a:off x="271311" y="272665"/>
            <a:ext cx="5824689" cy="1132480"/>
          </a:xfrm>
        </p:spPr>
        <p:txBody>
          <a:bodyPr vert="horz" lIns="91440" tIns="45720" rIns="91440" bIns="45720" rtlCol="0" anchor="b">
            <a:normAutofit/>
          </a:bodyPr>
          <a:lstStyle/>
          <a:p>
            <a:r>
              <a:rPr lang="en-US" kern="1200" dirty="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rPr>
              <a:t>Confusion Matrix </a:t>
            </a:r>
          </a:p>
        </p:txBody>
      </p:sp>
      <p:sp>
        <p:nvSpPr>
          <p:cNvPr id="4" name="TextBox 3">
            <a:extLst>
              <a:ext uri="{FF2B5EF4-FFF2-40B4-BE49-F238E27FC236}">
                <a16:creationId xmlns:a16="http://schemas.microsoft.com/office/drawing/2014/main" id="{A9E04816-D2D5-7C0A-45AF-BE84C6171BEC}"/>
              </a:ext>
            </a:extLst>
          </p:cNvPr>
          <p:cNvSpPr txBox="1"/>
          <p:nvPr/>
        </p:nvSpPr>
        <p:spPr>
          <a:xfrm>
            <a:off x="809709" y="1677809"/>
            <a:ext cx="5951502" cy="2852404"/>
          </a:xfrm>
          <a:prstGeom prst="rect">
            <a:avLst/>
          </a:prstGeom>
        </p:spPr>
        <p:txBody>
          <a:bodyPr vert="horz" lIns="91440" tIns="45720" rIns="91440" bIns="45720" rtlCol="0">
            <a:noAutofit/>
          </a:bodyPr>
          <a:lstStyle/>
          <a:p>
            <a:pPr indent="-228600">
              <a:spcAft>
                <a:spcPts val="600"/>
              </a:spcAft>
              <a:buClr>
                <a:schemeClr val="tx2"/>
              </a:buClr>
              <a:buFont typeface="Arial" panose="020B0604020202020204" pitchFamily="34" charset="0"/>
              <a:buChar char="•"/>
            </a:pPr>
            <a:r>
              <a:rPr lang="en-US" sz="1600" dirty="0"/>
              <a:t>True Negatives (TN): The top-left quadrant (45) shows the number of true negative predictions where the model correctly identified loans that were not approved.</a:t>
            </a:r>
          </a:p>
          <a:p>
            <a:pPr indent="-228600">
              <a:spcAft>
                <a:spcPts val="600"/>
              </a:spcAft>
              <a:buClr>
                <a:schemeClr val="tx2"/>
              </a:buClr>
              <a:buFont typeface="Arial" panose="020B0604020202020204" pitchFamily="34" charset="0"/>
              <a:buChar char="•"/>
            </a:pPr>
            <a:endParaRPr lang="en-US" sz="1600" dirty="0"/>
          </a:p>
          <a:p>
            <a:pPr indent="-228600">
              <a:spcAft>
                <a:spcPts val="600"/>
              </a:spcAft>
              <a:buClr>
                <a:schemeClr val="tx2"/>
              </a:buClr>
              <a:buFont typeface="Arial" panose="020B0604020202020204" pitchFamily="34" charset="0"/>
              <a:buChar char="•"/>
            </a:pPr>
            <a:r>
              <a:rPr lang="en-US" sz="1600" dirty="0"/>
              <a:t>False Positives (FP): The top-right quadrant (28) represents the false positive predictions where the model incorrectly predicted approval for loans that were actually not approved.</a:t>
            </a:r>
          </a:p>
          <a:p>
            <a:pPr indent="-228600">
              <a:spcAft>
                <a:spcPts val="600"/>
              </a:spcAft>
              <a:buClr>
                <a:schemeClr val="tx2"/>
              </a:buClr>
              <a:buFont typeface="Arial" panose="020B0604020202020204" pitchFamily="34" charset="0"/>
              <a:buChar char="•"/>
            </a:pPr>
            <a:endParaRPr lang="en-US" sz="1600" dirty="0"/>
          </a:p>
          <a:p>
            <a:pPr indent="-228600">
              <a:spcAft>
                <a:spcPts val="600"/>
              </a:spcAft>
              <a:buClr>
                <a:schemeClr val="tx2"/>
              </a:buClr>
              <a:buFont typeface="Arial" panose="020B0604020202020204" pitchFamily="34" charset="0"/>
              <a:buChar char="•"/>
            </a:pPr>
            <a:r>
              <a:rPr lang="en-US" sz="1600" dirty="0"/>
              <a:t>False Negatives (FN): The bottom-left quadrant (14) indicates the false negative predictions where the model incorrectly predicted non-approval for loans that were actually approved.</a:t>
            </a:r>
          </a:p>
          <a:p>
            <a:pPr indent="-228600">
              <a:spcAft>
                <a:spcPts val="600"/>
              </a:spcAft>
              <a:buClr>
                <a:schemeClr val="tx2"/>
              </a:buClr>
              <a:buFont typeface="Arial" panose="020B0604020202020204" pitchFamily="34" charset="0"/>
              <a:buChar char="•"/>
            </a:pPr>
            <a:endParaRPr lang="en-US" sz="1600" dirty="0"/>
          </a:p>
          <a:p>
            <a:pPr indent="-228600">
              <a:spcAft>
                <a:spcPts val="600"/>
              </a:spcAft>
              <a:buClr>
                <a:schemeClr val="tx2"/>
              </a:buClr>
              <a:buFont typeface="Arial" panose="020B0604020202020204" pitchFamily="34" charset="0"/>
              <a:buChar char="•"/>
            </a:pPr>
            <a:r>
              <a:rPr lang="en-US" sz="1600" dirty="0"/>
              <a:t>True Positives (TP): The bottom-right quadrant (153) shows the number of true positive predictions where the model correctly predicted loans that were approved.</a:t>
            </a:r>
          </a:p>
        </p:txBody>
      </p:sp>
      <p:pic>
        <p:nvPicPr>
          <p:cNvPr id="3074" name="Picture 2">
            <a:extLst>
              <a:ext uri="{FF2B5EF4-FFF2-40B4-BE49-F238E27FC236}">
                <a16:creationId xmlns:a16="http://schemas.microsoft.com/office/drawing/2014/main" id="{8CC95855-530D-2A12-22B2-19374FA352C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662889" y="1359962"/>
            <a:ext cx="4925879" cy="4137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637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C37C960-91F5-4F61-B2CD-8A03792072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E1BED0-2CEC-97D3-0674-ABBB6242F9C2}"/>
              </a:ext>
            </a:extLst>
          </p:cNvPr>
          <p:cNvSpPr>
            <a:spLocks noGrp="1"/>
          </p:cNvSpPr>
          <p:nvPr>
            <p:ph type="title"/>
          </p:nvPr>
        </p:nvSpPr>
        <p:spPr>
          <a:xfrm>
            <a:off x="838201" y="596644"/>
            <a:ext cx="6016888" cy="3435606"/>
          </a:xfrm>
        </p:spPr>
        <p:txBody>
          <a:bodyPr vert="horz" lIns="91440" tIns="45720" rIns="91440" bIns="45720" rtlCol="0" anchor="b">
            <a:normAutofit/>
          </a:bodyPr>
          <a:lstStyle/>
          <a:p>
            <a:r>
              <a:rPr lang="en-US" sz="6600" dirty="0"/>
              <a:t>Thank you </a:t>
            </a:r>
          </a:p>
        </p:txBody>
      </p:sp>
      <p:sp>
        <p:nvSpPr>
          <p:cNvPr id="3" name="Content Placeholder 2">
            <a:extLst>
              <a:ext uri="{FF2B5EF4-FFF2-40B4-BE49-F238E27FC236}">
                <a16:creationId xmlns:a16="http://schemas.microsoft.com/office/drawing/2014/main" id="{C761E7E3-5B6C-7648-E153-302CD1FF6C0F}"/>
              </a:ext>
            </a:extLst>
          </p:cNvPr>
          <p:cNvSpPr>
            <a:spLocks noGrp="1"/>
          </p:cNvSpPr>
          <p:nvPr>
            <p:ph idx="1"/>
          </p:nvPr>
        </p:nvSpPr>
        <p:spPr>
          <a:xfrm>
            <a:off x="838201" y="4298950"/>
            <a:ext cx="6016888" cy="1920875"/>
          </a:xfrm>
        </p:spPr>
        <p:txBody>
          <a:bodyPr vert="horz" lIns="91440" tIns="45720" rIns="91440" bIns="45720" rtlCol="0">
            <a:normAutofit/>
          </a:bodyPr>
          <a:lstStyle/>
          <a:p>
            <a:pPr marL="0" indent="0">
              <a:buNone/>
            </a:pPr>
            <a:endParaRPr lang="en-US" sz="2400" dirty="0"/>
          </a:p>
        </p:txBody>
      </p:sp>
      <p:pic>
        <p:nvPicPr>
          <p:cNvPr id="7" name="Graphic 6" descr="Help">
            <a:extLst>
              <a:ext uri="{FF2B5EF4-FFF2-40B4-BE49-F238E27FC236}">
                <a16:creationId xmlns:a16="http://schemas.microsoft.com/office/drawing/2014/main" id="{27E7D67A-EEAF-FE13-9BD2-F6DD8D37B6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38496" y="1303129"/>
            <a:ext cx="4245918" cy="4245918"/>
          </a:xfrm>
          <a:prstGeom prst="rect">
            <a:avLst/>
          </a:prstGeom>
        </p:spPr>
      </p:pic>
    </p:spTree>
    <p:extLst>
      <p:ext uri="{BB962C8B-B14F-4D97-AF65-F5344CB8AC3E}">
        <p14:creationId xmlns:p14="http://schemas.microsoft.com/office/powerpoint/2010/main" val="1988824971"/>
      </p:ext>
    </p:extLst>
  </p:cSld>
  <p:clrMapOvr>
    <a:masterClrMapping/>
  </p:clrMapOvr>
</p:sld>
</file>

<file path=ppt/theme/theme1.xml><?xml version="1.0" encoding="utf-8"?>
<a:theme xmlns:a="http://schemas.openxmlformats.org/drawingml/2006/main" name="FadeVTI">
  <a:themeElements>
    <a:clrScheme name="gradient">
      <a:dk1>
        <a:sysClr val="windowText" lastClr="000000"/>
      </a:dk1>
      <a:lt1>
        <a:sysClr val="window" lastClr="FFFFFF"/>
      </a:lt1>
      <a:dk2>
        <a:srgbClr val="203040"/>
      </a:dk2>
      <a:lt2>
        <a:srgbClr val="ECF0F0"/>
      </a:lt2>
      <a:accent1>
        <a:srgbClr val="00BAC8"/>
      </a:accent1>
      <a:accent2>
        <a:srgbClr val="794DFF"/>
      </a:accent2>
      <a:accent3>
        <a:srgbClr val="00D17D"/>
      </a:accent3>
      <a:accent4>
        <a:srgbClr val="E69500"/>
      </a:accent4>
      <a:accent5>
        <a:srgbClr val="FE5D21"/>
      </a:accent5>
      <a:accent6>
        <a:srgbClr val="DA2A69"/>
      </a:accent6>
      <a:hlink>
        <a:srgbClr val="3E8FF1"/>
      </a:hlink>
      <a:folHlink>
        <a:srgbClr val="939393"/>
      </a:folHlink>
    </a:clrScheme>
    <a:fontScheme name="Custom 49">
      <a:majorFont>
        <a:latin typeface="Aharon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adeVTI" id="{1194088A-B135-4437-9FD8-7466BBC13A13}" vid="{B787DE2F-1995-45D8-A8E2-6B5CC521AC55}"/>
    </a:ext>
  </a:extLst>
</a:theme>
</file>

<file path=docProps/app.xml><?xml version="1.0" encoding="utf-8"?>
<Properties xmlns="http://schemas.openxmlformats.org/officeDocument/2006/extended-properties" xmlns:vt="http://schemas.openxmlformats.org/officeDocument/2006/docPropsVTypes">
  <TotalTime>48</TotalTime>
  <Words>471</Words>
  <Application>Microsoft Office PowerPoint</Application>
  <PresentationFormat>Widescreen</PresentationFormat>
  <Paragraphs>47</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Aharoni</vt:lpstr>
      <vt:lpstr>Arial</vt:lpstr>
      <vt:lpstr>Avenir Next LT Pro</vt:lpstr>
      <vt:lpstr>Calibri</vt:lpstr>
      <vt:lpstr>FadeVTI</vt:lpstr>
      <vt:lpstr>Loan Approval Predictions </vt:lpstr>
      <vt:lpstr>Introduction</vt:lpstr>
      <vt:lpstr>Objective </vt:lpstr>
      <vt:lpstr>Dataset</vt:lpstr>
      <vt:lpstr>Pipeline</vt:lpstr>
      <vt:lpstr>Data Visualization</vt:lpstr>
      <vt:lpstr>Splitting of Data </vt:lpstr>
      <vt:lpstr>Accuracy of each Model</vt:lpstr>
      <vt:lpstr>Evaluation </vt:lpstr>
      <vt:lpstr>Confusion Matrix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Loan Approval Predictions </dc:title>
  <dc:creator>Bharath Tanniru</dc:creator>
  <cp:lastModifiedBy>Bharath Tanniru</cp:lastModifiedBy>
  <cp:revision>1</cp:revision>
  <dcterms:created xsi:type="dcterms:W3CDTF">2024-04-17T22:36:22Z</dcterms:created>
  <dcterms:modified xsi:type="dcterms:W3CDTF">2024-04-17T23:25:10Z</dcterms:modified>
</cp:coreProperties>
</file>